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5C3C-359E-9805-21FA-6F3099821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D5B89-89CF-91C9-4B38-974655A60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92508-580C-8E15-BC03-1A12D9F3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4E7F2-2FA6-0F27-83E2-264DF4F0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F13C3-D258-9F87-236E-E382D364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88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E080-3951-54C8-1431-04907082F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1CE78-8551-D2EC-5C79-5B0183CEC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8C80A-9375-8BBF-F225-AACA08220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68DBE-81BA-ADFD-9394-64585470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82FA-9E66-DB53-5B48-E1532D72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58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5D32-9355-C02A-34A3-40081568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3A28F-E664-514A-DCD4-2065B8D51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72AAB-5F43-4979-060F-64CF8399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BF1F7-971D-36F1-A6AA-ED39F33A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9B8A4-48B2-5E17-1BB1-F5D12519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998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90BA-3C9D-42FF-54AA-346CEC9B8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9BFD-55E2-BB3C-11C7-246837E40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92282-E197-8549-3998-069B5624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77813-CDF3-56F2-386B-8962EBB6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319AF-0AA3-0DCC-8D1F-10384DE6A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CA20E-47B5-BC7F-C346-413C6E50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9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B89C-B6D7-3EAA-1373-DB554C47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CDCAA-21D1-7C8F-FA19-80B162BF8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2EDE8-FA62-6B9D-F673-5ECFCD24E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7E3C7E-8EE1-43A9-05F9-87EF3B0CA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E3163-B0A8-7142-9104-AAE3282AFD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ED3D09-B7A1-4B07-4FB0-C88AC8B24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A85CD6-3725-65A9-EA4D-F03ED229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374F9-18B1-742B-AEB2-B5FF8DB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35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18B6D-0342-CF1D-7AF1-4D04F9BAC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42F89F-6673-CECA-5FC7-122BCD773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49522-B5DF-94EE-2B3C-5173B622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E30BB6-FC03-1CE4-CFCA-E2EA9D6A4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42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E8866-72C2-9812-EF12-D36B8557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742A19-C3CC-1EC2-5268-FBCB651E9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644CE7-F6C2-46DD-8FB1-FC3AA0FB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25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BFBF-BF47-ADF1-513F-0D0A3CE7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B5DE4-07DB-0A34-CCDB-FCFA1D31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9D22C-8946-2429-651F-3A8243AF0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C50A7-5798-A2BB-B51C-5C4E0E7E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B7086-0AE3-93E8-4E2E-0E082C232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C2AE5-871C-ACC6-09B1-12B834044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216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717B0-C49C-FA83-CD7E-30EBF6D2D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31F61-5B39-2623-C02E-183802AC3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8B9A7-3A3B-1253-F699-A9043CE96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47E06-92BE-FD69-E0AA-18E8D5FA6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57FF5-9EDB-F424-A586-93FE3DFE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E2F51-EC51-908A-3518-7E97CCB1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512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8F17-DC6D-CFFD-4238-C1309306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83B62-FF5A-5233-61D9-3CF7851EF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0D4E6-B98E-68DD-923A-A7C57051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7A977-9267-7C7E-302B-673443BD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D7D10-4AB4-4727-5805-0928A221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29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74D13-4A8E-E092-C1D8-075BDD69D6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2F7FE-9D4D-BB75-515D-C5D13F3F1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EE99-E1AF-993C-7BCF-8BD5FE3F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8F1FA-0CC5-3B0E-ED2F-B7EFDF01D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EAA42-4BA9-5255-7C06-23432D84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2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80CA8-56B8-EC76-1BF3-5CB3D88E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19C5A-E67D-EFD3-B0EB-EE46D17F5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B70DD-45ED-5B0E-D043-DD6D68B560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B2FC96-0975-4561-8F68-7D0FBBEB3001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829A3-9154-8D5E-680D-05E6551D82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EB895-7245-7312-93A2-0DCA5AC0A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5A884-F30C-407F-8692-BE199387AE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82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nduKandikanti14/bank-customer-churn-analysi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60B0DE-190F-3F5E-EB5F-FFB631CC4BA6}"/>
              </a:ext>
            </a:extLst>
          </p:cNvPr>
          <p:cNvSpPr txBox="1"/>
          <p:nvPr/>
        </p:nvSpPr>
        <p:spPr>
          <a:xfrm>
            <a:off x="727588" y="1366702"/>
            <a:ext cx="10540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</a:t>
            </a:r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</a:t>
            </a:r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Analysis for a Retail Bank</a:t>
            </a:r>
            <a:endParaRPr lang="en-IN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2E2CF3-759C-1DFF-7DD3-834F4A1F0E18}"/>
              </a:ext>
            </a:extLst>
          </p:cNvPr>
          <p:cNvSpPr txBox="1"/>
          <p:nvPr/>
        </p:nvSpPr>
        <p:spPr>
          <a:xfrm>
            <a:off x="855407" y="2294324"/>
            <a:ext cx="53290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Retail Bank Customer Dataset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SQL (MySQL)</a:t>
            </a: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Customer Churn Analysis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4DB00A-E37C-1D58-1F46-827DDAE053F5}"/>
              </a:ext>
            </a:extLst>
          </p:cNvPr>
          <p:cNvCxnSpPr>
            <a:cxnSpLocks/>
          </p:cNvCxnSpPr>
          <p:nvPr/>
        </p:nvCxnSpPr>
        <p:spPr>
          <a:xfrm>
            <a:off x="924233" y="2015612"/>
            <a:ext cx="79051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258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B2133D-5996-69B0-3C31-D40C4EC877EF}"/>
              </a:ext>
            </a:extLst>
          </p:cNvPr>
          <p:cNvSpPr txBox="1"/>
          <p:nvPr/>
        </p:nvSpPr>
        <p:spPr>
          <a:xfrm>
            <a:off x="668593" y="638043"/>
            <a:ext cx="42573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009B5E-88FE-DD8E-DC6C-A0210A627BB1}"/>
              </a:ext>
            </a:extLst>
          </p:cNvPr>
          <p:cNvCxnSpPr>
            <a:cxnSpLocks/>
          </p:cNvCxnSpPr>
          <p:nvPr/>
        </p:nvCxnSpPr>
        <p:spPr>
          <a:xfrm>
            <a:off x="766916" y="1054163"/>
            <a:ext cx="26055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DE70EE-CF11-0241-292B-6B3D61E27D59}"/>
              </a:ext>
            </a:extLst>
          </p:cNvPr>
          <p:cNvSpPr txBox="1"/>
          <p:nvPr/>
        </p:nvSpPr>
        <p:spPr>
          <a:xfrm>
            <a:off x="668593" y="1161263"/>
            <a:ext cx="88686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Retail banks experience customer attrition, impacting long-term profitability.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data analysis can reveal patterns associated with churn.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project aims to measure churn and identify the key factors influencing customer exits.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19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474975-82AB-BC84-E06E-15BD9A03842D}"/>
              </a:ext>
            </a:extLst>
          </p:cNvPr>
          <p:cNvSpPr txBox="1"/>
          <p:nvPr/>
        </p:nvSpPr>
        <p:spPr>
          <a:xfrm>
            <a:off x="688259" y="471948"/>
            <a:ext cx="4768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Approach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FB6130-A7E6-476C-3B75-557606A13E35}"/>
              </a:ext>
            </a:extLst>
          </p:cNvPr>
          <p:cNvSpPr txBox="1"/>
          <p:nvPr/>
        </p:nvSpPr>
        <p:spPr>
          <a:xfrm>
            <a:off x="688259" y="967781"/>
            <a:ext cx="10717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Cleaned and validated the dataset to ensure data quality.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Explored customer data using SQL to understand churn distribution.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Segmented customers by geography, activity status, credit score, tenure, and satisfaction score.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Calculated churn rates across segments to identify high-risk customer groups.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Derived insights to support data-driven retention strategies.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C62DA0-FC78-EC98-24E7-8898BD39599C}"/>
              </a:ext>
            </a:extLst>
          </p:cNvPr>
          <p:cNvCxnSpPr/>
          <p:nvPr/>
        </p:nvCxnSpPr>
        <p:spPr>
          <a:xfrm>
            <a:off x="816078" y="887013"/>
            <a:ext cx="28906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18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846B1D-F1DF-E3B2-7487-26C06238DD7C}"/>
              </a:ext>
            </a:extLst>
          </p:cNvPr>
          <p:cNvSpPr txBox="1"/>
          <p:nvPr/>
        </p:nvSpPr>
        <p:spPr>
          <a:xfrm>
            <a:off x="717755" y="423843"/>
            <a:ext cx="4935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23FA14-5F4D-46C2-89C5-70D8B353653D}"/>
              </a:ext>
            </a:extLst>
          </p:cNvPr>
          <p:cNvCxnSpPr>
            <a:cxnSpLocks/>
          </p:cNvCxnSpPr>
          <p:nvPr/>
        </p:nvCxnSpPr>
        <p:spPr>
          <a:xfrm>
            <a:off x="825909" y="867349"/>
            <a:ext cx="17403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76ADD0D-9A08-49E6-7F10-FF2176EFB2DD}"/>
              </a:ext>
            </a:extLst>
          </p:cNvPr>
          <p:cNvSpPr txBox="1"/>
          <p:nvPr/>
        </p:nvSpPr>
        <p:spPr>
          <a:xfrm>
            <a:off x="717755" y="947063"/>
            <a:ext cx="108990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inactivity is the strongest indicator of churn, with inactive customers leaving at significantly higher rates than active customers.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Germany recorded the highest churn rate among all regions, signaling a potential geographic risk area for the bank.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Credit score showed minimal influence on churn, indicating that customer behavior is a stronger predictor than financial profile.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Tenure had little impact on customer exits, suggesting churn is not driven by how long customers stay with the bank.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Customers with low satisfaction who were also inactive demonstrated elevated churn levels, highlighting an at-risk segment.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11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14ADC-A975-B179-B29D-C4010CA76575}"/>
              </a:ext>
            </a:extLst>
          </p:cNvPr>
          <p:cNvSpPr txBox="1"/>
          <p:nvPr/>
        </p:nvSpPr>
        <p:spPr>
          <a:xfrm>
            <a:off x="727586" y="511277"/>
            <a:ext cx="5702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A16E5-84EB-7E7C-2384-04BAA473094E}"/>
              </a:ext>
            </a:extLst>
          </p:cNvPr>
          <p:cNvSpPr txBox="1"/>
          <p:nvPr/>
        </p:nvSpPr>
        <p:spPr>
          <a:xfrm>
            <a:off x="727586" y="1034497"/>
            <a:ext cx="104516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Improve Customer Satisfaction: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understanding the drivers of low satisfaction by identifying service gaps and areas where customer expectations are not being met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Investigate Customer Inactivity: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Conduct targeted surveys and behavioral analysis to determine why customers become inactive and whether they are shifting engagement to competitor banks.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Strengthen Competitive Positioning: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competitor offerings to identify missing features or services and enhance the bank’s value proposition to encourage active usage.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Focus on High-Churn Geography (Germany):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region-specific analysis to understand customer expectations in Germany and address localized issues early to prevent similar churn patterns in other markets.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CE5F84-72A1-43F3-EEA2-F33A7F9542C6}"/>
              </a:ext>
            </a:extLst>
          </p:cNvPr>
          <p:cNvCxnSpPr>
            <a:cxnSpLocks/>
          </p:cNvCxnSpPr>
          <p:nvPr/>
        </p:nvCxnSpPr>
        <p:spPr>
          <a:xfrm>
            <a:off x="845574" y="946007"/>
            <a:ext cx="273336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818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7D0FA4-B42E-F6BF-839D-D171F99AFBE3}"/>
              </a:ext>
            </a:extLst>
          </p:cNvPr>
          <p:cNvSpPr txBox="1"/>
          <p:nvPr/>
        </p:nvSpPr>
        <p:spPr>
          <a:xfrm>
            <a:off x="737420" y="674565"/>
            <a:ext cx="5997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Impact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8F57E9-4B21-3A18-0C2A-90515BD25EC7}"/>
              </a:ext>
            </a:extLst>
          </p:cNvPr>
          <p:cNvCxnSpPr>
            <a:cxnSpLocks/>
          </p:cNvCxnSpPr>
          <p:nvPr/>
        </p:nvCxnSpPr>
        <p:spPr>
          <a:xfrm>
            <a:off x="865238" y="1099462"/>
            <a:ext cx="234007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EE9F7A-8930-E7BF-254D-F573B0725B34}"/>
              </a:ext>
            </a:extLst>
          </p:cNvPr>
          <p:cNvSpPr txBox="1"/>
          <p:nvPr/>
        </p:nvSpPr>
        <p:spPr>
          <a:xfrm>
            <a:off x="737420" y="1197785"/>
            <a:ext cx="10962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Enables the bank to proactively target inactive customers, reducing potential revenue loss from churn.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Supports region-specific retention strategies by identifying Germany as a high-risk market.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Helps leadership prioritize behavioral indicators (activity and satisfaction) for early churn detection.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Drives data-informed decision-making to improve customer retention, strengthen loyalty, and enhance long-term profitability.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59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7DA82-737D-01B5-744F-1E6DC72917A2}"/>
              </a:ext>
            </a:extLst>
          </p:cNvPr>
          <p:cNvSpPr txBox="1"/>
          <p:nvPr/>
        </p:nvSpPr>
        <p:spPr>
          <a:xfrm>
            <a:off x="688258" y="540774"/>
            <a:ext cx="65581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Skills Demonstrated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F344F-A2C2-67EE-A9DE-A39BA876CFCA}"/>
              </a:ext>
            </a:extLst>
          </p:cNvPr>
          <p:cNvSpPr txBox="1"/>
          <p:nvPr/>
        </p:nvSpPr>
        <p:spPr>
          <a:xfrm>
            <a:off x="688258" y="1063994"/>
            <a:ext cx="84852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SQL Data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 Cleaning &amp; Validation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Aggregation Functions (COUNT, SUM, MIN, MAX)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 Segmentation using CASE statements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Churn Analysis using GROUP BY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Business Insight Generation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F0B410-24BE-4451-6C75-69C4E36C4D87}"/>
              </a:ext>
            </a:extLst>
          </p:cNvPr>
          <p:cNvCxnSpPr/>
          <p:nvPr/>
        </p:nvCxnSpPr>
        <p:spPr>
          <a:xfrm>
            <a:off x="835742" y="963562"/>
            <a:ext cx="28415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CEA2325-B7A1-6D24-9FDC-0DEBE1E3FD69}"/>
              </a:ext>
            </a:extLst>
          </p:cNvPr>
          <p:cNvSpPr txBox="1"/>
          <p:nvPr/>
        </p:nvSpPr>
        <p:spPr>
          <a:xfrm>
            <a:off x="688258" y="3244334"/>
            <a:ext cx="2192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 Project Link: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280A02-190E-A4EE-978F-BB545BCAADD1}"/>
              </a:ext>
            </a:extLst>
          </p:cNvPr>
          <p:cNvCxnSpPr>
            <a:cxnSpLocks/>
          </p:cNvCxnSpPr>
          <p:nvPr/>
        </p:nvCxnSpPr>
        <p:spPr>
          <a:xfrm>
            <a:off x="835742" y="3526206"/>
            <a:ext cx="180421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580F57C-A7D9-998F-040F-D613E00E3E97}"/>
              </a:ext>
            </a:extLst>
          </p:cNvPr>
          <p:cNvSpPr txBox="1"/>
          <p:nvPr/>
        </p:nvSpPr>
        <p:spPr>
          <a:xfrm>
            <a:off x="2639961" y="3244334"/>
            <a:ext cx="9212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bank-customer-churn-analysis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831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744ad24-24bf-4f62-99d5-3e20953cef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309693EF2C674CA60F999E4E110107" ma:contentTypeVersion="6" ma:contentTypeDescription="Create a new document." ma:contentTypeScope="" ma:versionID="a373c557068ca8c4dca962c1dc91758d">
  <xsd:schema xmlns:xsd="http://www.w3.org/2001/XMLSchema" xmlns:xs="http://www.w3.org/2001/XMLSchema" xmlns:p="http://schemas.microsoft.com/office/2006/metadata/properties" xmlns:ns3="3744ad24-24bf-4f62-99d5-3e20953cefa5" targetNamespace="http://schemas.microsoft.com/office/2006/metadata/properties" ma:root="true" ma:fieldsID="9cc1c1913650c6f324b9a9b9a4c0514d" ns3:_="">
    <xsd:import namespace="3744ad24-24bf-4f62-99d5-3e20953cefa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4ad24-24bf-4f62-99d5-3e20953cefa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B2F5C5-7F09-43E7-94A2-CF559969490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053401-7D76-49CA-9347-565B61F29464}">
  <ds:schemaRefs>
    <ds:schemaRef ds:uri="3744ad24-24bf-4f62-99d5-3e20953cefa5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A3F3D7B-1EA9-43FF-9EDE-4ADCD9A0F7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44ad24-24bf-4f62-99d5-3e20953cef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454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H2460108-KOTHAPALLI JYOTHIPRIYA</dc:creator>
  <cp:lastModifiedBy>H2460108-KOTHAPALLI JYOTHIPRIYA</cp:lastModifiedBy>
  <cp:revision>2</cp:revision>
  <dcterms:created xsi:type="dcterms:W3CDTF">2026-02-04T08:30:49Z</dcterms:created>
  <dcterms:modified xsi:type="dcterms:W3CDTF">2026-02-05T18:39:53Z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0x01010077309693EF2C674CA60F999E4E110107</vt:lpwstr>
  </property>
</Properties>
</file>